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onsolas"/>
              </a:defRPr>
            </a:pPr>
            <a:r>
              <a:t>CODEXAI //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02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A1A1AA"/>
                </a:solidFill>
                <a:latin typeface="Consolas"/>
              </a:defRPr>
            </a:pPr>
            <a:r>
              <a:t>BUILD 1.0.0+1 • FLUTTER 3.35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5912" cy="914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080760"/>
            <a:ext cx="10725912" cy="914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A1A1AA"/>
                </a:solidFill>
                <a:latin typeface="Consolas"/>
              </a:defRPr>
            </a:pPr>
            <a:r>
              <a:t>CODEXAI // ARCHITECTURE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A1A1AA"/>
                </a:solidFill>
                <a:latin typeface="Consolas"/>
              </a:defRPr>
            </a:pPr>
            <a:r>
              <a:t>01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onsolas"/>
              </a:defRPr>
            </a:pPr>
            <a:r>
              <a:t>DOCUMENT INTELLIGENCE &amp; HYBRID RAG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</a:defRPr>
            </a:pPr>
            <a:r>
              <a:t>CodexAI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Arial"/>
              </a:defRPr>
            </a:pPr>
            <a:r>
              <a:t>Кроссплатформенная система локального парсинга документов, камерного Vision OCR и потокового ИИ-анализа с верифицированным цитированием страниц.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3099816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66344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563EB"/>
                </a:solidFill>
                <a:latin typeface="Consolas"/>
              </a:defRPr>
            </a:pPr>
            <a:r>
              <a:t>Feature-First Clean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8496" y="4572000"/>
            <a:ext cx="205740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78224" y="46634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flutter_riverpod 2.6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4572000"/>
            <a:ext cx="1362456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4663440"/>
            <a:ext cx="11795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Drift SQLite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62672" y="4572000"/>
            <a:ext cx="2839212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663440"/>
            <a:ext cx="26563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Isolate TransferableTypedData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39044" y="4572000"/>
            <a:ext cx="205740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48772" y="466344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Gemini 3.5 Flash 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onsolas"/>
              </a:defRPr>
            </a:pPr>
            <a:r>
              <a:t>01 // ПРОБЛЕМАТИКА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02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2525B"/>
                </a:solidFill>
                <a:latin typeface="Consolas"/>
              </a:defRPr>
            </a:pPr>
            <a:r>
              <a:t>TECHNICAL BOTTLENECKS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0807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2525B"/>
                </a:solidFill>
                <a:latin typeface="Consolas"/>
              </a:defRPr>
            </a:pPr>
            <a:r>
              <a:t>CODEXAI // ARCHITECTURE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52525B"/>
                </a:solidFill>
                <a:latin typeface="Consolas"/>
              </a:defRPr>
            </a:pPr>
            <a:r>
              <a:t>02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54864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600" b="1">
                <a:solidFill>
                  <a:srgbClr val="111111"/>
                </a:solidFill>
                <a:latin typeface="Arial"/>
              </a:defRPr>
            </a:pPr>
            <a:r>
              <a:t>100 МБ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Верхний предел документа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52525B"/>
                </a:solidFill>
                <a:latin typeface="Arial"/>
              </a:defRPr>
            </a:pPr>
            <a:r>
              <a:t>Многостраничные договоры PDF, таблицы DOCX/CSV и скан-книги без текстового слоя.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783080"/>
            <a:ext cx="633679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94767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1. Переполнение окна контекста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24028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onsolas"/>
              </a:defRPr>
            </a:pPr>
            <a:r>
              <a:t>&gt; 120 000 токенов → HTTP 400 / 429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834639"/>
            <a:ext cx="633679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99923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2. Ответы без верификации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291839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onsolas"/>
              </a:defRPr>
            </a:pPr>
            <a:r>
              <a:t>Отсутствие привязки к pageNumber и chunkIndex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3886200"/>
            <a:ext cx="633679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4050791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3. Блокировка UI Event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43434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onsolas"/>
              </a:defRPr>
            </a:pPr>
            <a:r>
              <a:t>Фризы при синхронном чтении PDF и XML в main thread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onsolas"/>
              </a:defRPr>
            </a:pPr>
            <a:r>
              <a:t>02 // ПАЙПЛАЙН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02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2525B"/>
                </a:solidFill>
                <a:latin typeface="Consolas"/>
              </a:defRPr>
            </a:pPr>
            <a:r>
              <a:t>END-TO-END EXECUTION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0807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2525B"/>
                </a:solidFill>
                <a:latin typeface="Consolas"/>
              </a:defRPr>
            </a:pPr>
            <a:r>
              <a:t>CODEXAI // ARCHITECTURE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52525B"/>
                </a:solidFill>
                <a:latin typeface="Consolas"/>
              </a:defRPr>
            </a:pPr>
            <a:r>
              <a:t>03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ial"/>
              </a:defRPr>
            </a:pPr>
            <a:r>
              <a:t>Четырехфазный конвейер обработки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2525B"/>
                </a:solidFill>
                <a:latin typeface="Arial"/>
              </a:defRPr>
            </a:pPr>
            <a:r>
              <a:t>От валидации сигнатуры файла до потокового рендеринга токенов со ссылками на источники.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25420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Consolas"/>
              </a:defRPr>
            </a:pPr>
            <a:r>
              <a:t>STEP 01 // 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</a:defRPr>
            </a:pPr>
            <a:r>
              <a:t>Выбор и Magic Bytes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217627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52525B"/>
                </a:solidFill>
                <a:latin typeface="Arial"/>
              </a:defRPr>
            </a:pPr>
            <a:r>
              <a:t>Чтение байтов файла или снимка камеры, проверка заголовков %PDF и PK\x03\x04.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663440"/>
            <a:ext cx="2176272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Consolas"/>
              </a:defRPr>
            </a:pPr>
            <a:r>
              <a:t>FilePickerService</a:t>
            </a:r>
            <a:br/>
            <a:r>
              <a:t>ImagePicker (Camera)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56432" y="2240280"/>
            <a:ext cx="25420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2450592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Consolas"/>
              </a:defRPr>
            </a:pPr>
            <a:r>
              <a:t>STEP 02 // ISOLATE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78892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</a:defRPr>
            </a:pPr>
            <a:r>
              <a:t>Парсинг и Чанкинг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246120"/>
            <a:ext cx="217627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52525B"/>
                </a:solidFill>
                <a:latin typeface="Arial"/>
              </a:defRPr>
            </a:pPr>
            <a:r>
              <a:t>Постраничное извлечение текста, Vision OCR для сканов и нарезка с overlap.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39312" y="4663440"/>
            <a:ext cx="2176272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4754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Consolas"/>
              </a:defRPr>
            </a:pPr>
            <a:r>
              <a:t>DocumentParserService</a:t>
            </a:r>
            <a:br/>
            <a:r>
              <a:t>ImageOcrService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2240280"/>
            <a:ext cx="25420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450592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Consolas"/>
              </a:defRPr>
            </a:pPr>
            <a:r>
              <a:t>STEP 03 //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78892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</a:defRPr>
            </a:pPr>
            <a:r>
              <a:t>Адаптивный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246120"/>
            <a:ext cx="217627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52525B"/>
                </a:solidFill>
                <a:latin typeface="Arial"/>
              </a:defRPr>
            </a:pPr>
            <a:r>
              <a:t>Выбор Full-Context (&lt;=30K токенов) или гибридного поиска BM25 + Cosine.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4224" y="4663440"/>
            <a:ext cx="2176272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4754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Consolas"/>
              </a:defRPr>
            </a:pPr>
            <a:r>
              <a:t>RagRetrieverService</a:t>
            </a:r>
            <a:br/>
            <a:r>
              <a:t>TokenEstimator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6256" y="2240280"/>
            <a:ext cx="25420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2450592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Consolas"/>
              </a:defRPr>
            </a:pPr>
            <a:r>
              <a:t>STEP 04 // STREAM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278892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</a:defRPr>
            </a:pPr>
            <a:r>
              <a:t>SSE-стриминг и Цитаты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246120"/>
            <a:ext cx="217627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52525B"/>
                </a:solidFill>
                <a:latin typeface="Arial"/>
              </a:defRPr>
            </a:pPr>
            <a:r>
              <a:t>Декодирование потока токенов в реальном времени и привязка CitedSource.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89136" y="4663440"/>
            <a:ext cx="2176272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576" y="47548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Consolas"/>
              </a:defRPr>
            </a:pPr>
            <a:r>
              <a:t>SseStreamTransformer</a:t>
            </a:r>
            <a:br/>
            <a:r>
              <a:t>MessageBubble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onsolas"/>
              </a:defRPr>
            </a:pPr>
            <a:r>
              <a:t>03 //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02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2525B"/>
                </a:solidFill>
                <a:latin typeface="Consolas"/>
              </a:defRPr>
            </a:pPr>
            <a:r>
              <a:t>FEATURE-FIRST CLEAN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0807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2525B"/>
                </a:solidFill>
                <a:latin typeface="Consolas"/>
              </a:defRPr>
            </a:pPr>
            <a:r>
              <a:t>CODEXAI // ARCHITECTURE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52525B"/>
                </a:solidFill>
                <a:latin typeface="Consolas"/>
              </a:defRPr>
            </a:pPr>
            <a:r>
              <a:t>04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ial"/>
              </a:defRPr>
            </a:pPr>
            <a:r>
              <a:t>Строгое разделение слоев и зависимостей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429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onsolas"/>
              </a:defRPr>
            </a:pPr>
            <a:r>
              <a:t>PRESENTATION (Riverpod)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251460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64261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ActiveChatNotifier (StateNotifier)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10896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323697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DocumentsNotifier (StateNotifier)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70332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831335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ChatSessionsNotifier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429768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42569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MainChatScreen / ChatSidebar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89204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5020055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DocumentPreviewModal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1828800"/>
            <a:ext cx="3429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0116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onsolas"/>
              </a:defRPr>
            </a:pPr>
            <a:r>
              <a:t>DOMAIN (Pure Dart)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51460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264261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DocumentEntity / ChunkEntity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10896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323697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ChatMessageEntity / CitedSource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70332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3831335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AnalysisMode (qa, summary, deep)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29768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42569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SystemPrompts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89204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5020055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DocumentRepository / AiRepository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0144" y="1828800"/>
            <a:ext cx="3429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20116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onsolas"/>
              </a:defRPr>
            </a:pPr>
            <a:r>
              <a:t>DATA &amp; CORE (Drift / Dio)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11312" y="251460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264261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AppDatabase (SQLite + Prefs Fallback)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11312" y="310896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23697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LlmRemoteDataSource (Gemini / OpenAI)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11312" y="370332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3831335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RagRetrieverService (BM25 + Cosine)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11312" y="429768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42569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DocumentParserService (Syncfusion/XML)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11312" y="4892040"/>
            <a:ext cx="30175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5020055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IsolateRunner (TransferableTypedData)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onsolas"/>
              </a:defRPr>
            </a:pPr>
            <a:r>
              <a:t>04 // ДВИЖОК ДОКУМЕНТОВ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02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2525B"/>
                </a:solidFill>
                <a:latin typeface="Consolas"/>
              </a:defRPr>
            </a:pPr>
            <a:r>
              <a:t>ISOLATE &amp; VISION OCR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0807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2525B"/>
                </a:solidFill>
                <a:latin typeface="Consolas"/>
              </a:defRPr>
            </a:pPr>
            <a:r>
              <a:t>CODEXAI // ARCHITECTURE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52525B"/>
                </a:solidFill>
                <a:latin typeface="Consolas"/>
              </a:defRPr>
            </a:pPr>
            <a:r>
              <a:t>05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</a:defRPr>
            </a:pPr>
            <a:r>
              <a:t>Zero-Copy парсинг</a:t>
            </a:r>
            <a:br/>
            <a:r>
              <a:t>и OCR сканов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0">
                <a:solidFill>
                  <a:srgbClr val="52525B"/>
                </a:solidFill>
                <a:latin typeface="Arial"/>
              </a:defRPr>
            </a:pPr>
            <a:r>
              <a:t>Байты передаются в фоновый изолят через TransferableTypedData за O(1) без клонирования буфера в главном потоке.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1920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0233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563EB"/>
                </a:solidFill>
                <a:latin typeface="Consolas"/>
              </a:defRPr>
            </a:pPr>
            <a:r>
              <a:t>chunkSize: 3200 chars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3931920"/>
            <a:ext cx="1783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4023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563EB"/>
                </a:solidFill>
                <a:latin typeface="Consolas"/>
              </a:defRPr>
            </a:pPr>
            <a:r>
              <a:t>overlap: 600 chars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463040"/>
            <a:ext cx="62453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1609344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PDF с текстовым слоем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19202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563EB"/>
                </a:solidFill>
                <a:latin typeface="Consolas"/>
              </a:defRPr>
            </a:pPr>
            <a:r>
              <a:t>Syncfusion PdfTextExtractor (постранично)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487168"/>
            <a:ext cx="62453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263347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Скан-PDF без текста (ScannedPdfException)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94436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563EB"/>
                </a:solidFill>
                <a:latin typeface="Consolas"/>
              </a:defRPr>
            </a:pPr>
            <a:r>
              <a:t>Извлечение JPEG (FF D8..FF D9) -&gt; Gemini Vision OCR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3511296"/>
            <a:ext cx="62453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3248" y="36576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Камера телефона (JPG / PNG / WEBP)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396849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563EB"/>
                </a:solidFill>
                <a:latin typeface="Consolas"/>
              </a:defRPr>
            </a:pPr>
            <a:r>
              <a:t>ImagePicker -&gt; ImageOcrService -&gt; Markdown таблицы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4535424"/>
            <a:ext cx="62453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3248" y="468172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</a:defRPr>
            </a:pPr>
            <a:r>
              <a:t>DOCX и CSV таблицы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4992624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2563EB"/>
                </a:solidFill>
                <a:latin typeface="Consolas"/>
              </a:defRPr>
            </a:pPr>
            <a:r>
              <a:t>archive + xml (&lt;w:tbl&gt;) и авто-разделитель CSV (; / ,)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onsolas"/>
              </a:defRPr>
            </a:pPr>
            <a:r>
              <a:t>05 // АНАЛИТИЧЕСКОЕ ЯДРО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02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2525B"/>
                </a:solidFill>
                <a:latin typeface="Consolas"/>
              </a:defRPr>
            </a:pPr>
            <a:r>
              <a:t>SYSTEM PROMPTS &amp; RAG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0807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2525B"/>
                </a:solidFill>
                <a:latin typeface="Consolas"/>
              </a:defRPr>
            </a:pPr>
            <a:r>
              <a:t>CODEXAI // ARCHITECTURE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52525B"/>
                </a:solidFill>
                <a:latin typeface="Consolas"/>
              </a:defRPr>
            </a:pPr>
            <a:r>
              <a:t>06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ial"/>
              </a:defRPr>
            </a:pPr>
            <a:r>
              <a:t>Матрица режимов работы ИИ (SystemPrompts)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2560320" cy="502920"/>
          </a:xfrm>
          <a:prstGeom prst="rect">
            <a:avLst/>
          </a:prstGeom>
          <a:solidFill>
            <a:srgbClr val="F4F4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116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52525B"/>
                </a:solidFill>
                <a:latin typeface="Consolas"/>
              </a:defRPr>
            </a:pPr>
            <a:r>
              <a:t>Режим (AnalysisMode)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1874519"/>
            <a:ext cx="2743200" cy="502920"/>
          </a:xfrm>
          <a:prstGeom prst="rect">
            <a:avLst/>
          </a:prstGeom>
          <a:solidFill>
            <a:srgbClr val="F4F4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201168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52525B"/>
                </a:solidFill>
                <a:latin typeface="Consolas"/>
              </a:defRPr>
            </a:pPr>
            <a:r>
              <a:t>Стратегия контекста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74519"/>
            <a:ext cx="2834640" cy="502920"/>
          </a:xfrm>
          <a:prstGeom prst="rect">
            <a:avLst/>
          </a:prstGeom>
          <a:solidFill>
            <a:srgbClr val="F4F4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5" y="20116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52525B"/>
                </a:solidFill>
                <a:latin typeface="Consolas"/>
              </a:defRPr>
            </a:pPr>
            <a:r>
              <a:t>Структура ответа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74519"/>
            <a:ext cx="2587752" cy="502920"/>
          </a:xfrm>
          <a:prstGeom prst="rect">
            <a:avLst/>
          </a:prstGeom>
          <a:solidFill>
            <a:srgbClr val="F4F4F5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2011680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52525B"/>
                </a:solidFill>
                <a:latin typeface="Consolas"/>
              </a:defRPr>
            </a:pPr>
            <a:r>
              <a:t>Контроль цитирования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7744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56032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Consolas"/>
              </a:defRPr>
            </a:pPr>
            <a:r>
              <a:t>AnalysisMode.qa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39" y="23774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9856" y="256032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Arial"/>
              </a:defRPr>
            </a:pPr>
            <a:r>
              <a:t>Full-Context (&lt;=30K) или Hybrid RAG Top-8 (BM25 + Cosine)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377440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3055" y="256032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Arial"/>
              </a:defRPr>
            </a:pPr>
            <a:r>
              <a:t>Точный ответ по фактам + кликабельные бейджи цитат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377440"/>
            <a:ext cx="25877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7696" y="2560320"/>
            <a:ext cx="23591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Arial"/>
              </a:defRPr>
            </a:pPr>
            <a:r>
              <a:t>Обязательный тег [Файл, Стр. X] после тезиса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42900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61188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Consolas"/>
              </a:defRPr>
            </a:pPr>
            <a:r>
              <a:t>AnalysisMode.executiveSummary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39" y="342900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9856" y="361188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Arial"/>
              </a:defRPr>
            </a:pPr>
            <a:r>
              <a:t>Full-Context Stuffing (до 120K токенов бюджета)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429000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63055" y="361188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Arial"/>
              </a:defRPr>
            </a:pPr>
            <a:r>
              <a:t>4 раздела: 1. TL;DR, 2. Тезисы, 3. Цифры/Даты, 4. Выводы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3429000"/>
            <a:ext cx="25877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97696" y="3611880"/>
            <a:ext cx="23591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Arial"/>
              </a:defRPr>
            </a:pPr>
            <a:r>
              <a:t>Привязка каждого вывода к исходной странице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48056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4663440"/>
            <a:ext cx="2331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Consolas"/>
              </a:defRPr>
            </a:pPr>
            <a:r>
              <a:t>AnalysisMode.deepAnalysis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39" y="448056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19856" y="466344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Arial"/>
              </a:defRPr>
            </a:pPr>
            <a:r>
              <a:t>Full-Context Stuffing со всеми Markdown-таблицами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480560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5" y="466344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Arial"/>
              </a:defRPr>
            </a:pPr>
            <a:r>
              <a:t>Сводная таблица KPI, поиск противоречий, карта рисков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4480560"/>
            <a:ext cx="258775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97696" y="4663440"/>
            <a:ext cx="235915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Arial"/>
              </a:defRPr>
            </a:pPr>
            <a:r>
              <a:t>Ранжирование рисков (Высокий/Средний/Низкий)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onsolas"/>
              </a:defRPr>
            </a:pPr>
            <a:r>
              <a:t>06 // РЕАКТИВНЫЕ ПОТОКИ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02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2525B"/>
                </a:solidFill>
                <a:latin typeface="Consolas"/>
              </a:defRPr>
            </a:pPr>
            <a:r>
              <a:t>RIVERPOD + SSE STREAMING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0807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2525B"/>
                </a:solidFill>
                <a:latin typeface="Consolas"/>
              </a:defRPr>
            </a:pPr>
            <a:r>
              <a:t>CODEXAI // ARCHITECTURE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52525B"/>
                </a:solidFill>
                <a:latin typeface="Consolas"/>
              </a:defRPr>
            </a:pPr>
            <a:r>
              <a:t>07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Потоковая сборка ответа в реальном времени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52525B"/>
                </a:solidFill>
                <a:latin typeface="Arial"/>
              </a:defRPr>
            </a:pPr>
            <a:r>
              <a:t>Каждая строка data: из HTTP-потока парсится через SseStreamTransformer и мгновенно обновляет состояние активного сообщения в ActiveChatNotifier.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4389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85876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111111"/>
                </a:solidFill>
                <a:latin typeface="Consolas"/>
              </a:defRPr>
            </a:pPr>
            <a:r>
              <a:t>ChatGenerationStatus.loading -&gt; RAG Retrieval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434840"/>
            <a:ext cx="4389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63600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Consolas"/>
              </a:defRPr>
            </a:pPr>
            <a:r>
              <a:t>ChatGenerationStatus.streaming -&gt; Token Emit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1371600"/>
            <a:ext cx="6062472" cy="42062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1572768"/>
            <a:ext cx="56692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Consolas"/>
              </a:defRPr>
            </a:pPr>
            <a:r>
              <a:t>// active_chat_notifier.dart</a:t>
            </a:r>
            <a:br/>
            <a:r>
              <a:t>final responseStream = _aiRepository.streamChatResponse(</a:t>
            </a:r>
            <a:br/>
            <a:r>
              <a:t>  config: llmConfig,</a:t>
            </a:r>
            <a:br/>
            <a:r>
              <a:t>  mode: effectiveMode,</a:t>
            </a:r>
            <a:br/>
            <a:r>
              <a:t>  retrievalResult: retrievalResult,</a:t>
            </a:r>
            <a:br/>
            <a:r>
              <a:t>  history: previousHistory,</a:t>
            </a:r>
            <a:br/>
            <a:r>
              <a:t>  userPrompt: text,</a:t>
            </a:r>
            <a:br/>
            <a:r>
              <a:t>  cancelToken: _activeCancelToken,</a:t>
            </a:r>
            <a:br/>
            <a:r>
              <a:t>);</a:t>
            </a:r>
            <a:br/>
            <a:br/>
            <a:r>
              <a:t>await for (final tokenChunk in responseStream) {</a:t>
            </a:r>
            <a:br/>
            <a:r>
              <a:t>  buffer.write(tokenChunk);</a:t>
            </a:r>
            <a:br/>
            <a:r>
              <a:t>  assistantMsg = assistantMsg.copyWith(</a:t>
            </a:r>
            <a:br/>
            <a:r>
              <a:t>    content: buffer.toString(),</a:t>
            </a:r>
            <a:br/>
            <a:r>
              <a:t>    isStreaming: true,</a:t>
            </a:r>
            <a:br/>
            <a:r>
              <a:t>  );</a:t>
            </a:r>
            <a:br/>
            <a:r>
              <a:t>  _updateMessageInState(assistantMsg);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onsolas"/>
              </a:defRPr>
            </a:pPr>
            <a:r>
              <a:t>07 // ИНТЕРФЕЙС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02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2525B"/>
                </a:solidFill>
                <a:latin typeface="Consolas"/>
              </a:defRPr>
            </a:pPr>
            <a:r>
              <a:t>ADAPTIVE MATERIAL 3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0807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2525B"/>
                </a:solidFill>
                <a:latin typeface="Consolas"/>
              </a:defRPr>
            </a:pPr>
            <a:r>
              <a:t>CODEXAI // ARCHITECTURE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52525B"/>
                </a:solidFill>
                <a:latin typeface="Consolas"/>
              </a:defRPr>
            </a:pPr>
            <a:r>
              <a:t>08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"/>
              </a:defRPr>
            </a:pPr>
            <a:r>
              <a:t>Адаптивный макет MainChatScreen (Desktop / Web / Mobile)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256032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20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Consolas"/>
              </a:defRPr>
            </a:pPr>
            <a:r>
              <a:t>ChatSidebar (&gt;=860px / Drawer)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2331720"/>
            <a:ext cx="2267712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46887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111111"/>
                </a:solidFill>
                <a:latin typeface="Arial"/>
              </a:defRPr>
            </a:pPr>
            <a:r>
              <a:t>+ Новый диалог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2971800"/>
            <a:ext cx="2267712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1089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Arial"/>
              </a:defRPr>
            </a:pPr>
            <a:r>
              <a:t>Чаты (Сессии в Drift DB)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" y="3611879"/>
            <a:ext cx="2267712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74903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Arial"/>
              </a:defRPr>
            </a:pPr>
            <a:r>
              <a:t>Файлы: Договор.pdf [x]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" y="4251959"/>
            <a:ext cx="2267712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3891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Arial"/>
              </a:defRPr>
            </a:pPr>
            <a:r>
              <a:t>Кнопки: Камера OCR | Галерея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4892040"/>
            <a:ext cx="2267712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0292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Arial"/>
              </a:defRPr>
            </a:pPr>
            <a:r>
              <a:t>API: gemini-3.5-flash | Тема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783080"/>
            <a:ext cx="539496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9584" y="1920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Consolas"/>
              </a:defRPr>
            </a:pPr>
            <a:r>
              <a:t>Active Chat Viewport + Markdown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9584" y="2331720"/>
            <a:ext cx="5102352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246887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111111"/>
                </a:solidFill>
                <a:latin typeface="Arial"/>
              </a:defRPr>
            </a:pPr>
            <a:r>
              <a:t>Вопрос пользователя по документу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9584" y="2971800"/>
            <a:ext cx="5102352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31089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Arial"/>
              </a:defRPr>
            </a:pPr>
            <a:r>
              <a:t>AI Analyst [Глубокий анализ]: Таблицы Markdown + Код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9584" y="3611879"/>
            <a:ext cx="5102352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374903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Arial"/>
              </a:defRPr>
            </a:pPr>
            <a:r>
              <a:t>Цитаты: [Договор.pdf • Стр. 5] [Отчет.csv • Стр. 1]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9584" y="4251959"/>
            <a:ext cx="5102352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43891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Arial"/>
              </a:defRPr>
            </a:pPr>
            <a:r>
              <a:t>QuickActionChips: Выжимка | Главное | Риски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9584" y="4892040"/>
            <a:ext cx="5102352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5029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Arial"/>
              </a:defRPr>
            </a:pPr>
            <a:r>
              <a:t>AttachedFilesBar + Поле ввода (Скрепка / Камера)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1783080"/>
            <a:ext cx="2587752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5984" y="1920240"/>
            <a:ext cx="23134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Consolas"/>
              </a:defRPr>
            </a:pPr>
            <a:r>
              <a:t>DocumentPreviewModal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15984" y="2331720"/>
            <a:ext cx="2295144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25711" y="2468879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111111"/>
                </a:solidFill>
                <a:latin typeface="Arial"/>
              </a:defRPr>
            </a:pPr>
            <a:r>
              <a:t>Метаданные: 24 стр. • ~18K ток.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15984" y="2971800"/>
            <a:ext cx="2295144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5711" y="310896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Arial"/>
              </a:defRPr>
            </a:pPr>
            <a:r>
              <a:t>Вкладка 1: Индекс чанков (Поиск)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15984" y="3611879"/>
            <a:ext cx="2295144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25711" y="3749039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Arial"/>
              </a:defRPr>
            </a:pPr>
            <a:r>
              <a:t>Фрагмент #4 (Стр. 5) — Подсвечен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15984" y="4251959"/>
            <a:ext cx="2295144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1" y="438912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Arial"/>
              </a:defRPr>
            </a:pPr>
            <a:r>
              <a:t>Кнопка: Копировать фрагмент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15984" y="4892040"/>
            <a:ext cx="2295144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1" y="502920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111111"/>
                </a:solidFill>
                <a:latin typeface="Arial"/>
              </a:defRPr>
            </a:pPr>
            <a:r>
              <a:t>Вкладка 2: Полный текст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onsolas"/>
              </a:defRPr>
            </a:pPr>
            <a:r>
              <a:t>08 // НАДЕЖНОСТЬ И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02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52525B"/>
                </a:solidFill>
                <a:latin typeface="Consolas"/>
              </a:defRPr>
            </a:pPr>
            <a:r>
              <a:t>FAULT TOLERANCE &amp; BUDGETING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080760"/>
            <a:ext cx="10725912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52525B"/>
                </a:solidFill>
                <a:latin typeface="Consolas"/>
              </a:defRPr>
            </a:pPr>
            <a:r>
              <a:t>CODEXAI // ARCHITECTURE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52525B"/>
                </a:solidFill>
                <a:latin typeface="Consolas"/>
              </a:defRPr>
            </a:pPr>
            <a:r>
              <a:t>09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ial"/>
              </a:defRPr>
            </a:pPr>
            <a:r>
              <a:t>Инженерные гарантии отказоустойчивости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429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600" b="1">
                <a:solidFill>
                  <a:srgbClr val="2563EB"/>
                </a:solidFill>
                <a:latin typeface="Arial"/>
              </a:defRPr>
            </a:pPr>
            <a:r>
              <a:t>120K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Контроль бюджета токенов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2525B"/>
                </a:solidFill>
                <a:latin typeface="Arial"/>
              </a:defRPr>
            </a:pPr>
            <a:r>
              <a:t>TokenEstimator.trimHistoryToBudget удерживает историю в 12K токенов, а fitChunksToBudget исключает переполнение окна.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920240"/>
            <a:ext cx="3429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19456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600" b="1">
                <a:solidFill>
                  <a:srgbClr val="2563EB"/>
                </a:solidFill>
                <a:latin typeface="Arial"/>
              </a:defRPr>
            </a:pPr>
            <a:r>
              <a:t>60 FPS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154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Неблокирующий UI-поток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6576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2525B"/>
                </a:solidFill>
                <a:latin typeface="Arial"/>
              </a:defRPr>
            </a:pPr>
            <a:r>
              <a:t>Тяжелый парсинг PDF/DOCX до 100 МБ и расчет весов BM25 выполняются строго в фоновом Isolate.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0144" y="1920240"/>
            <a:ext cx="3429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19456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600" b="1">
                <a:solidFill>
                  <a:srgbClr val="2563EB"/>
                </a:solidFill>
                <a:latin typeface="Arial"/>
              </a:defRPr>
            </a:pPr>
            <a:r>
              <a:t>3x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154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Каскад резервных моделей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6576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2525B"/>
                </a:solidFill>
                <a:latin typeface="Arial"/>
              </a:defRPr>
            </a:pPr>
            <a:r>
              <a:t>Автопереключение gemini-3.5-flash -&gt; 3.8-flash -&gt; 3-flash-preview при HTTP 404/503 + повтор запроса.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Consolas"/>
              </a:defRPr>
            </a:pPr>
            <a:r>
              <a:t>09 // ИТОГ И 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502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A1A1AA"/>
                </a:solidFill>
                <a:latin typeface="Consolas"/>
              </a:defRPr>
            </a:pPr>
            <a:r>
              <a:t>PRODUCTION STATUS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5912" cy="914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080760"/>
            <a:ext cx="10725912" cy="914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A1A1AA"/>
                </a:solidFill>
                <a:latin typeface="Consolas"/>
              </a:defRPr>
            </a:pPr>
            <a:r>
              <a:t>CODEXAI // ARCHITECTURE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70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50" b="1">
                <a:solidFill>
                  <a:srgbClr val="A1A1AA"/>
                </a:solidFill>
                <a:latin typeface="Consolas"/>
              </a:defRPr>
            </a:pPr>
            <a: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Готовность к эксплуатации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Arial"/>
              </a:defRPr>
            </a:pPr>
            <a:r>
              <a:t>Код протестирован (8/8 flutter test, 0 issues flutter analyze) и опубликован в GitHub-репозитории ShadowNoYami/CodexAI.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49039"/>
            <a:ext cx="132588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563EB"/>
                </a:solidFill>
                <a:latin typeface="Consolas"/>
              </a:defRPr>
            </a:pPr>
            <a:r>
              <a:t>Web / Chrome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3749039"/>
            <a:ext cx="132588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384048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563EB"/>
                </a:solidFill>
                <a:latin typeface="Consolas"/>
              </a:defRPr>
            </a:pPr>
            <a:r>
              <a:t>Windows / macOS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3749039"/>
            <a:ext cx="132588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84048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0">
                <a:solidFill>
                  <a:srgbClr val="2563EB"/>
                </a:solidFill>
                <a:latin typeface="Consolas"/>
              </a:defRPr>
            </a:pPr>
            <a:r>
              <a:t>Android / 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1691640"/>
            <a:ext cx="6245352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185623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Этап развития 1: SQLite FTS5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16712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Consolas"/>
              </a:defRPr>
            </a:pPr>
            <a:r>
              <a:t>Инвертированный индекс чанков внутри Drift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2770632"/>
            <a:ext cx="6245352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293522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Этап развития 2: Batch 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2461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Consolas"/>
              </a:defRPr>
            </a:pPr>
            <a:r>
              <a:t>Пакетная векторизация gemini-embedding-001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3849624"/>
            <a:ext cx="6245352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4014215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Этап развития 3: Экспорт отчетов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32511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Consolas"/>
              </a:defRPr>
            </a:pPr>
            <a:r>
              <a:t>Выгрузка сводок и таблиц в PDF / 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